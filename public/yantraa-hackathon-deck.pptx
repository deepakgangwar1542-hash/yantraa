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214884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121417"/>
          </a:solidFill>
          <a:ln w="19050">
            <a:solidFill>
              <a:srgbClr val="FF2D2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78992" y="2404872"/>
            <a:ext cx="402336" cy="402336"/>
          </a:xfrm>
          <a:prstGeom prst="ellipse">
            <a:avLst/>
          </a:prstGeom>
          <a:solidFill>
            <a:srgbClr val="FF2D2D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5840" y="2039112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0" name="Shape 18"/>
          <p:cNvSpPr/>
          <p:nvPr/>
        </p:nvSpPr>
        <p:spPr>
          <a:xfrm>
            <a:off x="1005840" y="3063240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1" name="Shape 19"/>
          <p:cNvSpPr/>
          <p:nvPr/>
        </p:nvSpPr>
        <p:spPr>
          <a:xfrm>
            <a:off x="1280160" y="2039112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2" name="Shape 20"/>
          <p:cNvSpPr/>
          <p:nvPr/>
        </p:nvSpPr>
        <p:spPr>
          <a:xfrm>
            <a:off x="1280160" y="3063240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3" name="Shape 21"/>
          <p:cNvSpPr/>
          <p:nvPr/>
        </p:nvSpPr>
        <p:spPr>
          <a:xfrm>
            <a:off x="1554480" y="2039112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4" name="Shape 22"/>
          <p:cNvSpPr/>
          <p:nvPr/>
        </p:nvSpPr>
        <p:spPr>
          <a:xfrm>
            <a:off x="1554480" y="3063240"/>
            <a:ext cx="91440" cy="109728"/>
          </a:xfrm>
          <a:prstGeom prst="rect">
            <a:avLst/>
          </a:prstGeom>
          <a:solidFill>
            <a:srgbClr val="C08457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33375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HARDWARE LEARNING PLATFORM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36118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200" kern="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YANTRAA</a:t>
            </a:r>
            <a:endParaRPr lang="en-US" sz="9600" dirty="0"/>
          </a:p>
        </p:txBody>
      </p:sp>
      <p:sp>
        <p:nvSpPr>
          <p:cNvPr id="27" name="Text 25"/>
          <p:cNvSpPr/>
          <p:nvPr/>
        </p:nvSpPr>
        <p:spPr>
          <a:xfrm>
            <a:off x="822960" y="498348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electronics by building real circuits in an interactive 3D lab.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F6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HACKATHON PITCH</a:t>
            </a:r>
            <a:pPr indent="0" marL="0">
              <a:buNone/>
            </a:pPr>
            <a:r>
              <a:rPr lang="en-US" sz="1200" spc="1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//   </a:t>
            </a:r>
            <a:pPr indent="0" marL="0">
              <a:buNone/>
            </a:pPr>
            <a:r>
              <a:rPr lang="en-US" sz="12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YANTRAA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 is taught on paper.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286000"/>
            <a:ext cx="5042916" cy="1737360"/>
          </a:xfrm>
          <a:prstGeom prst="roundRect">
            <a:avLst>
              <a:gd name="adj" fmla="val 31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25146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97280" y="2852928"/>
            <a:ext cx="4494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&amp; intimidating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97280" y="3246120"/>
            <a:ext cx="44942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theory lives in 2D diagrams and equations. Beginners can’t see what a circuit actually does.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23076" y="2286000"/>
            <a:ext cx="5042916" cy="1737360"/>
          </a:xfrm>
          <a:prstGeom prst="roundRect">
            <a:avLst>
              <a:gd name="adj" fmla="val 31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51676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8" name="Text 26"/>
          <p:cNvSpPr/>
          <p:nvPr/>
        </p:nvSpPr>
        <p:spPr>
          <a:xfrm>
            <a:off x="6597396" y="25146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97396" y="2852928"/>
            <a:ext cx="4494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has a high floor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597396" y="3246120"/>
            <a:ext cx="44942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breadboards need parts, money, and space — and a wrong wire can fry a component or a student’s confidence.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22960" y="4389120"/>
            <a:ext cx="5042916" cy="1737360"/>
          </a:xfrm>
          <a:prstGeom prst="roundRect">
            <a:avLst>
              <a:gd name="adj" fmla="val 31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1560" y="438912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3" name="Text 31"/>
          <p:cNvSpPr/>
          <p:nvPr/>
        </p:nvSpPr>
        <p:spPr>
          <a:xfrm>
            <a:off x="1097280" y="46177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097280" y="4956048"/>
            <a:ext cx="4494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safe place to fail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97280" y="5349240"/>
            <a:ext cx="44942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fear mistakes because they’re slow, costly, and invisible until something breaks.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323076" y="4389120"/>
            <a:ext cx="5042916" cy="1737360"/>
          </a:xfrm>
          <a:prstGeom prst="roundRect">
            <a:avLst>
              <a:gd name="adj" fmla="val 31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51676" y="438912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8" name="Text 36"/>
          <p:cNvSpPr/>
          <p:nvPr/>
        </p:nvSpPr>
        <p:spPr>
          <a:xfrm>
            <a:off x="6597396" y="46177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597396" y="4956048"/>
            <a:ext cx="44942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is delayed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597396" y="5349240"/>
            <a:ext cx="44942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find out a circuit is wrong hours later — not the instant you connect it.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virtual electronics lab that feels real.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22960" y="205740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YANTRAA is a browser-based platform where students drag real components onto a spatial breadboard, wire them in 3D, and press Run — watching current flow, LEDs glow, and buzzers pulse in real time. No parts to buy, nothing to break, instant feedback.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22960" y="3291840"/>
            <a:ext cx="3270504" cy="2194560"/>
          </a:xfrm>
          <a:prstGeom prst="roundRect">
            <a:avLst>
              <a:gd name="adj" fmla="val 25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1560" y="32918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4" name="Text 22"/>
          <p:cNvSpPr/>
          <p:nvPr/>
        </p:nvSpPr>
        <p:spPr>
          <a:xfrm>
            <a:off x="1097280" y="3611880"/>
            <a:ext cx="2721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 IT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97280" y="4069080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4251960"/>
            <a:ext cx="27218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Current, polarity, and faults are visible — glow means current is flowing.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459224" y="3291840"/>
            <a:ext cx="3270504" cy="2194560"/>
          </a:xfrm>
          <a:prstGeom prst="roundRect">
            <a:avLst>
              <a:gd name="adj" fmla="val 25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87824" y="32918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9" name="Text 27"/>
          <p:cNvSpPr/>
          <p:nvPr/>
        </p:nvSpPr>
        <p:spPr>
          <a:xfrm>
            <a:off x="4733544" y="3611880"/>
            <a:ext cx="2721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IT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733544" y="4069080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1" name="Text 29"/>
          <p:cNvSpPr/>
          <p:nvPr/>
        </p:nvSpPr>
        <p:spPr>
          <a:xfrm>
            <a:off x="4733544" y="4251960"/>
            <a:ext cx="27218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 real wires between pins on a 3D breadboard, just like the bench.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095488" y="3291840"/>
            <a:ext cx="3270504" cy="2194560"/>
          </a:xfrm>
          <a:prstGeom prst="roundRect">
            <a:avLst>
              <a:gd name="adj" fmla="val 25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24088" y="32918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4" name="Text 32"/>
          <p:cNvSpPr/>
          <p:nvPr/>
        </p:nvSpPr>
        <p:spPr>
          <a:xfrm>
            <a:off x="8369808" y="3611880"/>
            <a:ext cx="2721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 IT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369808" y="4069080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6" name="Text 34"/>
          <p:cNvSpPr/>
          <p:nvPr/>
        </p:nvSpPr>
        <p:spPr>
          <a:xfrm>
            <a:off x="8369808" y="4251960"/>
            <a:ext cx="272186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circuit engine + AI tutor explain why it works, the moment it does.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/ 01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3D Spatial Lab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22960" y="1783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5C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hero of YANTRAA.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2423160"/>
            <a:ext cx="6126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5000"/>
              </a:lnSpc>
              <a:buSzPct val="100000"/>
              <a:buChar char="–"/>
            </a:pPr>
            <a:r>
              <a:rPr lang="en-US" sz="15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&amp; drop components</a:t>
            </a:r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onto a spatial breadboard — or just say what you want.
</a:t>
            </a:r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them in three dimensions</a:t>
            </a:r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with real jumper wires that magnetically snap to the nearest pin.
</a:t>
            </a:r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Run</a:t>
            </a:r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and a live circuit engine simulates the result — LEDs light, buzzers sound, traces glow where current flows.
</a:t>
            </a:r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fault detection</a:t>
            </a:r>
            <a:pPr indent="0" marL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flags shorts, reversed polarity, and missing resistors as you build.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406640" y="2286000"/>
            <a:ext cx="3959352" cy="3383280"/>
          </a:xfrm>
          <a:prstGeom prst="roundRect">
            <a:avLst>
              <a:gd name="adj" fmla="val 1622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35240" y="2286000"/>
            <a:ext cx="3502152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2468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 ●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46720" y="4023360"/>
            <a:ext cx="822960" cy="457200"/>
          </a:xfrm>
          <a:prstGeom prst="roundRect">
            <a:avLst>
              <a:gd name="adj" fmla="val 10000"/>
            </a:avLst>
          </a:prstGeom>
          <a:solidFill>
            <a:srgbClr val="121417"/>
          </a:solidFill>
          <a:ln w="19050">
            <a:solidFill>
              <a:srgbClr val="C084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0" y="40233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84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458200" y="4224528"/>
            <a:ext cx="516636" cy="45720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29" name="Shape 27"/>
          <p:cNvSpPr/>
          <p:nvPr/>
        </p:nvSpPr>
        <p:spPr>
          <a:xfrm>
            <a:off x="9386316" y="4023360"/>
            <a:ext cx="822960" cy="457200"/>
          </a:xfrm>
          <a:prstGeom prst="roundRect">
            <a:avLst>
              <a:gd name="adj" fmla="val 10000"/>
            </a:avLst>
          </a:prstGeom>
          <a:solidFill>
            <a:srgbClr val="121417"/>
          </a:solidFill>
          <a:ln w="19050">
            <a:solidFill>
              <a:srgbClr val="C0845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86316" y="40233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84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797796" y="4224528"/>
            <a:ext cx="516636" cy="45720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32" name="Shape 30"/>
          <p:cNvSpPr/>
          <p:nvPr/>
        </p:nvSpPr>
        <p:spPr>
          <a:xfrm>
            <a:off x="10725912" y="4023360"/>
            <a:ext cx="822960" cy="457200"/>
          </a:xfrm>
          <a:prstGeom prst="roundRect">
            <a:avLst>
              <a:gd name="adj" fmla="val 10000"/>
            </a:avLst>
          </a:prstGeom>
          <a:solidFill>
            <a:srgbClr val="121417"/>
          </a:solidFill>
          <a:ln w="19050">
            <a:solidFill>
              <a:srgbClr val="FF2D2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725912" y="40233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635240" y="5029200"/>
            <a:ext cx="3502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 flowing → LED lit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/ 02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— your AI hardware tutor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286000"/>
            <a:ext cx="5042916" cy="3566160"/>
          </a:xfrm>
          <a:prstGeom prst="roundRect">
            <a:avLst>
              <a:gd name="adj" fmla="val 153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2514600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AI TUTOR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97280" y="2926080"/>
            <a:ext cx="449427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is an always-on tutor that explains any concept — from Ohm’s law to 555 timing chips — grounded in what you’re actually building. Patient, precise, and context-aware.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1097280" y="4114800"/>
            <a:ext cx="4219956" cy="502920"/>
          </a:xfrm>
          <a:prstGeom prst="roundRect">
            <a:avLst>
              <a:gd name="adj" fmla="val 14545"/>
            </a:avLst>
          </a:prstGeom>
          <a:solidFill>
            <a:srgbClr val="FF2D2D"/>
          </a:solidFill>
          <a:ln/>
        </p:spPr>
      </p:sp>
      <p:sp>
        <p:nvSpPr>
          <p:cNvPr id="26" name="Text 24"/>
          <p:cNvSpPr/>
          <p:nvPr/>
        </p:nvSpPr>
        <p:spPr>
          <a:xfrm>
            <a:off x="1234440" y="4114800"/>
            <a:ext cx="40370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won’t my LED light up?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371600" y="4709160"/>
            <a:ext cx="4219956" cy="640080"/>
          </a:xfrm>
          <a:prstGeom prst="roundRect">
            <a:avLst>
              <a:gd name="adj" fmla="val 1142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4709160"/>
            <a:ext cx="403707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polarity — the long leg is +. It looks reversed.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23076" y="2286000"/>
            <a:ext cx="5042916" cy="3566160"/>
          </a:xfrm>
          <a:prstGeom prst="roundRect">
            <a:avLst>
              <a:gd name="adj" fmla="val 153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51676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1" name="Text 29"/>
          <p:cNvSpPr/>
          <p:nvPr/>
        </p:nvSpPr>
        <p:spPr>
          <a:xfrm>
            <a:off x="6597396" y="2487168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NEXT-LEVEL INTERACTION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597396" y="2926080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3" name="Text 31"/>
          <p:cNvSpPr/>
          <p:nvPr/>
        </p:nvSpPr>
        <p:spPr>
          <a:xfrm>
            <a:off x="6890004" y="2880360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6890004" y="3154680"/>
            <a:ext cx="4219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“Hey Circuit, add a resistor and wire it to the LED” — it places, connects, and runs it for you.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597396" y="3639312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6" name="Text 34"/>
          <p:cNvSpPr/>
          <p:nvPr/>
        </p:nvSpPr>
        <p:spPr>
          <a:xfrm>
            <a:off x="6890004" y="3593592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Hand-tracking control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6890004" y="3867912"/>
            <a:ext cx="4219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a fist to orbit, two fingers to zoom, pinch to grab parts and snap wires — no mouse.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597396" y="4352544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9" name="Text 37"/>
          <p:cNvSpPr/>
          <p:nvPr/>
        </p:nvSpPr>
        <p:spPr>
          <a:xfrm>
            <a:off x="6890004" y="4306824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Living-schematic UI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6890004" y="4581144"/>
            <a:ext cx="4219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app is a powered PCB: glow always means current is flowing.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597396" y="5065776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42" name="Text 40"/>
          <p:cNvSpPr/>
          <p:nvPr/>
        </p:nvSpPr>
        <p:spPr>
          <a:xfrm>
            <a:off x="6890004" y="5020056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the browser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6890004" y="5294376"/>
            <a:ext cx="4219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WebGL 3D + real-time simulation, zero installs, works on a laptop.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/ 03 + 04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by exploring, master by building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286000"/>
            <a:ext cx="5042916" cy="3291840"/>
          </a:xfrm>
          <a:prstGeom prst="roundRect">
            <a:avLst>
              <a:gd name="adj" fmla="val 1667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2514600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COMPONENT LIBRARY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97280" y="2926080"/>
            <a:ext cx="44942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every part in interactive 3D — pinouts, polarity, difficulty, and real-world uses — so a datasheet finally makes intuitive sense.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1097280" y="406908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06908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Resistor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697480" y="406908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97480" y="406908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97680" y="406908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97680" y="406908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Transistor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97280" y="461772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4617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NE555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697480" y="461772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97480" y="4617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Arduino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297680" y="4617720"/>
            <a:ext cx="1463040" cy="411480"/>
          </a:xfrm>
          <a:prstGeom prst="roundRect">
            <a:avLst>
              <a:gd name="adj" fmla="val 8889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97680" y="4617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ESP32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323076" y="2286000"/>
            <a:ext cx="5042916" cy="3291840"/>
          </a:xfrm>
          <a:prstGeom prst="roundRect">
            <a:avLst>
              <a:gd name="adj" fmla="val 1667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51676" y="228600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9" name="Text 37"/>
          <p:cNvSpPr/>
          <p:nvPr/>
        </p:nvSpPr>
        <p:spPr>
          <a:xfrm>
            <a:off x="6597396" y="2514600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BUILD PATH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597396" y="2926080"/>
            <a:ext cx="44942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guided roadmap of hands-on projects — from your first glowing LED to sensor-driven logic — wiring each real circuit step by step until it comes alive.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643116" y="4069080"/>
            <a:ext cx="365760" cy="365760"/>
          </a:xfrm>
          <a:prstGeom prst="ellipse">
            <a:avLst/>
          </a:prstGeom>
          <a:solidFill>
            <a:srgbClr val="FF2D2D"/>
          </a:solidFill>
          <a:ln w="19050">
            <a:solidFill>
              <a:srgbClr val="FF2D2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43116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F6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23076" y="45262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Light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44284" y="4224528"/>
            <a:ext cx="1004316" cy="3657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45" name="Shape 43"/>
          <p:cNvSpPr/>
          <p:nvPr/>
        </p:nvSpPr>
        <p:spPr>
          <a:xfrm>
            <a:off x="8049768" y="4069080"/>
            <a:ext cx="365760" cy="365760"/>
          </a:xfrm>
          <a:prstGeom prst="ellipse">
            <a:avLst/>
          </a:prstGeom>
          <a:solidFill>
            <a:srgbClr val="121417"/>
          </a:solidFill>
          <a:ln w="19050">
            <a:solidFill>
              <a:srgbClr val="8A6A4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49768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729728" y="45262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250936" y="4224528"/>
            <a:ext cx="1004316" cy="36576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9" name="Shape 47"/>
          <p:cNvSpPr/>
          <p:nvPr/>
        </p:nvSpPr>
        <p:spPr>
          <a:xfrm>
            <a:off x="9456420" y="4069080"/>
            <a:ext cx="365760" cy="365760"/>
          </a:xfrm>
          <a:prstGeom prst="ellipse">
            <a:avLst/>
          </a:prstGeom>
          <a:solidFill>
            <a:srgbClr val="121417"/>
          </a:solidFill>
          <a:ln w="19050">
            <a:solidFill>
              <a:srgbClr val="8A6A4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56420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36380" y="45262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9657588" y="4224528"/>
            <a:ext cx="1004316" cy="36576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53" name="Shape 51"/>
          <p:cNvSpPr/>
          <p:nvPr/>
        </p:nvSpPr>
        <p:spPr>
          <a:xfrm>
            <a:off x="10863072" y="4069080"/>
            <a:ext cx="365760" cy="365760"/>
          </a:xfrm>
          <a:prstGeom prst="ellipse">
            <a:avLst/>
          </a:prstGeom>
          <a:solidFill>
            <a:srgbClr val="121417"/>
          </a:solidFill>
          <a:ln w="19050">
            <a:solidFill>
              <a:srgbClr val="8A6A4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863072" y="4069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0543032" y="45262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597396" y="5166360"/>
            <a:ext cx="44942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Progress is saved — unlock harder builds as you go.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empty board to living circuit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651760"/>
            <a:ext cx="3026664" cy="2743200"/>
          </a:xfrm>
          <a:prstGeom prst="roundRect">
            <a:avLst>
              <a:gd name="adj" fmla="val 20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651760"/>
            <a:ext cx="256946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Shape 21"/>
          <p:cNvSpPr/>
          <p:nvPr/>
        </p:nvSpPr>
        <p:spPr>
          <a:xfrm>
            <a:off x="1097280" y="2926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F2D2D"/>
          </a:solidFill>
          <a:ln/>
        </p:spPr>
      </p:sp>
      <p:sp>
        <p:nvSpPr>
          <p:cNvPr id="24" name="Text 22"/>
          <p:cNvSpPr/>
          <p:nvPr/>
        </p:nvSpPr>
        <p:spPr>
          <a:xfrm>
            <a:off x="1097280" y="2926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097280" y="3749040"/>
            <a:ext cx="2478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F6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 THE PARTS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97280" y="4160520"/>
            <a:ext cx="2478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the 3D library — spin each component, learn its pins and what it does.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941064" y="3749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4581144" y="2651760"/>
            <a:ext cx="3026664" cy="2743200"/>
          </a:xfrm>
          <a:prstGeom prst="roundRect">
            <a:avLst>
              <a:gd name="adj" fmla="val 20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09744" y="2651760"/>
            <a:ext cx="256946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0" name="Shape 28"/>
          <p:cNvSpPr/>
          <p:nvPr/>
        </p:nvSpPr>
        <p:spPr>
          <a:xfrm>
            <a:off x="4855464" y="2926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F2D2D"/>
          </a:solidFill>
          <a:ln/>
        </p:spPr>
      </p:sp>
      <p:sp>
        <p:nvSpPr>
          <p:cNvPr id="31" name="Text 29"/>
          <p:cNvSpPr/>
          <p:nvPr/>
        </p:nvSpPr>
        <p:spPr>
          <a:xfrm>
            <a:off x="4855464" y="2926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855464" y="3749040"/>
            <a:ext cx="2478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F6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 IT IN 3D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55464" y="4160520"/>
            <a:ext cx="2478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parts on the spatial breadboard and connect them with real, snapping wires.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699248" y="37490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35" name="Shape 33"/>
          <p:cNvSpPr/>
          <p:nvPr/>
        </p:nvSpPr>
        <p:spPr>
          <a:xfrm>
            <a:off x="8339328" y="2651760"/>
            <a:ext cx="3026664" cy="2743200"/>
          </a:xfrm>
          <a:prstGeom prst="roundRect">
            <a:avLst>
              <a:gd name="adj" fmla="val 2000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67928" y="2651760"/>
            <a:ext cx="256946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7" name="Shape 35"/>
          <p:cNvSpPr/>
          <p:nvPr/>
        </p:nvSpPr>
        <p:spPr>
          <a:xfrm>
            <a:off x="8613648" y="292608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FF2D2D"/>
          </a:solidFill>
          <a:ln/>
        </p:spPr>
      </p:sp>
      <p:sp>
        <p:nvSpPr>
          <p:cNvPr id="38" name="Text 36"/>
          <p:cNvSpPr/>
          <p:nvPr/>
        </p:nvSpPr>
        <p:spPr>
          <a:xfrm>
            <a:off x="8613648" y="2926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613648" y="3749040"/>
            <a:ext cx="2478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F6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&amp; LEARN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613648" y="4160520"/>
            <a:ext cx="24780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Run: YANTRAA analyzes the circuit, flags issues, and brings it to life.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browser, engineered to scale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28600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28600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248716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 ENGINE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285292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Three Fiber + WebGL render the spatial lab. A single shared WebGL context keeps it fast and stable.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459224" y="228600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87824" y="228600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7" name="Text 25"/>
          <p:cNvSpPr/>
          <p:nvPr/>
        </p:nvSpPr>
        <p:spPr>
          <a:xfrm>
            <a:off x="4687824" y="248716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CIRCUIT ENGINE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87824" y="285292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custom real-time solver detects closed loops, current flow, shorts, and polarity faults on every edit.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95488" y="228600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4088" y="228600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1" name="Text 29"/>
          <p:cNvSpPr/>
          <p:nvPr/>
        </p:nvSpPr>
        <p:spPr>
          <a:xfrm>
            <a:off x="8324088" y="248716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TUTOR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24088" y="285292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LLM responses via the AI SDK, grounded in the live circuit state for context-aware help.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2960" y="429768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1560" y="429768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5" name="Text 33"/>
          <p:cNvSpPr/>
          <p:nvPr/>
        </p:nvSpPr>
        <p:spPr>
          <a:xfrm>
            <a:off x="1051560" y="449884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GESTURE &amp; VOICE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51560" y="486460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Webcam gestures (fist-orbit, pinch-to-wire) and a “Hey Circuit” voice assistant drive the lab hands-free.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459224" y="429768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87824" y="429768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9" name="Text 37"/>
          <p:cNvSpPr/>
          <p:nvPr/>
        </p:nvSpPr>
        <p:spPr>
          <a:xfrm>
            <a:off x="4687824" y="449884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+ FLUENT UI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687824" y="486460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front end with a cohesive PCB design system and persisted project progress.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095488" y="4297680"/>
            <a:ext cx="3270504" cy="1691640"/>
          </a:xfrm>
          <a:prstGeom prst="roundRect">
            <a:avLst>
              <a:gd name="adj" fmla="val 3243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324088" y="429768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3" name="Text 41"/>
          <p:cNvSpPr/>
          <p:nvPr/>
        </p:nvSpPr>
        <p:spPr>
          <a:xfrm>
            <a:off x="8324088" y="4498848"/>
            <a:ext cx="281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 INSTALL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324088" y="4864608"/>
            <a:ext cx="2813304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runs client-side in the browser — no hardware, no setup, works on any laptop.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tools that power YANTRAA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377440"/>
            <a:ext cx="2430018" cy="3200400"/>
          </a:xfrm>
          <a:prstGeom prst="roundRect">
            <a:avLst>
              <a:gd name="adj" fmla="val 22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377440"/>
            <a:ext cx="1972818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2633472"/>
            <a:ext cx="19728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51560" y="3035808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5" name="Shape 23"/>
          <p:cNvSpPr/>
          <p:nvPr/>
        </p:nvSpPr>
        <p:spPr>
          <a:xfrm>
            <a:off x="1051560" y="3300984"/>
            <a:ext cx="118872" cy="118872"/>
          </a:xfrm>
          <a:prstGeom prst="ellipse">
            <a:avLst/>
          </a:prstGeom>
          <a:solidFill>
            <a:srgbClr val="FF2D2D"/>
          </a:solidFill>
          <a:ln/>
        </p:spPr>
      </p:sp>
      <p:sp>
        <p:nvSpPr>
          <p:cNvPr id="26" name="Text 24"/>
          <p:cNvSpPr/>
          <p:nvPr/>
        </p:nvSpPr>
        <p:spPr>
          <a:xfrm>
            <a:off x="1280160" y="324612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(App Router)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51560" y="3849624"/>
            <a:ext cx="118872" cy="118872"/>
          </a:xfrm>
          <a:prstGeom prst="ellipse">
            <a:avLst/>
          </a:prstGeom>
          <a:solidFill>
            <a:srgbClr val="FF2D2D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160" y="379476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TypeScript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51560" y="4398264"/>
            <a:ext cx="118872" cy="118872"/>
          </a:xfrm>
          <a:prstGeom prst="ellipse">
            <a:avLst/>
          </a:prstGeom>
          <a:solidFill>
            <a:srgbClr val="FF2D2D"/>
          </a:solidFill>
          <a:ln/>
        </p:spPr>
      </p:sp>
      <p:sp>
        <p:nvSpPr>
          <p:cNvPr id="30" name="Text 28"/>
          <p:cNvSpPr/>
          <p:nvPr/>
        </p:nvSpPr>
        <p:spPr>
          <a:xfrm>
            <a:off x="1280160" y="434340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Fluent UI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51560" y="4946904"/>
            <a:ext cx="118872" cy="118872"/>
          </a:xfrm>
          <a:prstGeom prst="ellipse">
            <a:avLst/>
          </a:prstGeom>
          <a:solidFill>
            <a:srgbClr val="FF2D2D"/>
          </a:solidFill>
          <a:ln/>
        </p:spPr>
      </p:sp>
      <p:sp>
        <p:nvSpPr>
          <p:cNvPr id="32" name="Text 30"/>
          <p:cNvSpPr/>
          <p:nvPr/>
        </p:nvSpPr>
        <p:spPr>
          <a:xfrm>
            <a:off x="1280160" y="489204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Tailwind-style tokens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27298" y="2377440"/>
            <a:ext cx="2430018" cy="3200400"/>
          </a:xfrm>
          <a:prstGeom prst="roundRect">
            <a:avLst>
              <a:gd name="adj" fmla="val 22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55898" y="2377440"/>
            <a:ext cx="1972818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5" name="Text 33"/>
          <p:cNvSpPr/>
          <p:nvPr/>
        </p:nvSpPr>
        <p:spPr>
          <a:xfrm>
            <a:off x="3755898" y="2633472"/>
            <a:ext cx="19728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084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 &amp; GRAPHICS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755898" y="3035808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7" name="Shape 35"/>
          <p:cNvSpPr/>
          <p:nvPr/>
        </p:nvSpPr>
        <p:spPr>
          <a:xfrm>
            <a:off x="3755898" y="3300984"/>
            <a:ext cx="118872" cy="118872"/>
          </a:xfrm>
          <a:prstGeom prst="ellipse">
            <a:avLst/>
          </a:prstGeom>
          <a:solidFill>
            <a:srgbClr val="C08457"/>
          </a:solidFill>
          <a:ln/>
        </p:spPr>
      </p:sp>
      <p:sp>
        <p:nvSpPr>
          <p:cNvPr id="38" name="Text 36"/>
          <p:cNvSpPr/>
          <p:nvPr/>
        </p:nvSpPr>
        <p:spPr>
          <a:xfrm>
            <a:off x="3984498" y="324612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Three Fiber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755898" y="3849624"/>
            <a:ext cx="118872" cy="118872"/>
          </a:xfrm>
          <a:prstGeom prst="ellipse">
            <a:avLst/>
          </a:prstGeom>
          <a:solidFill>
            <a:srgbClr val="C08457"/>
          </a:solidFill>
          <a:ln/>
        </p:spPr>
      </p:sp>
      <p:sp>
        <p:nvSpPr>
          <p:cNvPr id="40" name="Text 38"/>
          <p:cNvSpPr/>
          <p:nvPr/>
        </p:nvSpPr>
        <p:spPr>
          <a:xfrm>
            <a:off x="3984498" y="379476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/ WebGL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55898" y="4398264"/>
            <a:ext cx="118872" cy="118872"/>
          </a:xfrm>
          <a:prstGeom prst="ellipse">
            <a:avLst/>
          </a:prstGeom>
          <a:solidFill>
            <a:srgbClr val="C08457"/>
          </a:solidFill>
          <a:ln/>
        </p:spPr>
      </p:sp>
      <p:sp>
        <p:nvSpPr>
          <p:cNvPr id="42" name="Text 40"/>
          <p:cNvSpPr/>
          <p:nvPr/>
        </p:nvSpPr>
        <p:spPr>
          <a:xfrm>
            <a:off x="3984498" y="434340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@react-three/drei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755898" y="4946904"/>
            <a:ext cx="118872" cy="118872"/>
          </a:xfrm>
          <a:prstGeom prst="ellipse">
            <a:avLst/>
          </a:prstGeom>
          <a:solidFill>
            <a:srgbClr val="C08457"/>
          </a:solidFill>
          <a:ln/>
        </p:spPr>
      </p:sp>
      <p:sp>
        <p:nvSpPr>
          <p:cNvPr id="44" name="Text 42"/>
          <p:cNvSpPr/>
          <p:nvPr/>
        </p:nvSpPr>
        <p:spPr>
          <a:xfrm>
            <a:off x="3984498" y="489204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shared GL context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31636" y="2377440"/>
            <a:ext cx="2430018" cy="3200400"/>
          </a:xfrm>
          <a:prstGeom prst="roundRect">
            <a:avLst>
              <a:gd name="adj" fmla="val 22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60236" y="2377440"/>
            <a:ext cx="1972818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7" name="Text 45"/>
          <p:cNvSpPr/>
          <p:nvPr/>
        </p:nvSpPr>
        <p:spPr>
          <a:xfrm>
            <a:off x="6460236" y="2633472"/>
            <a:ext cx="19728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5C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SIMULATION &amp; AI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460236" y="3035808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9" name="Shape 47"/>
          <p:cNvSpPr/>
          <p:nvPr/>
        </p:nvSpPr>
        <p:spPr>
          <a:xfrm>
            <a:off x="6460236" y="3300984"/>
            <a:ext cx="118872" cy="118872"/>
          </a:xfrm>
          <a:prstGeom prst="ellipse">
            <a:avLst/>
          </a:prstGeom>
          <a:solidFill>
            <a:srgbClr val="FF5C4D"/>
          </a:solidFill>
          <a:ln/>
        </p:spPr>
      </p:sp>
      <p:sp>
        <p:nvSpPr>
          <p:cNvPr id="50" name="Text 48"/>
          <p:cNvSpPr/>
          <p:nvPr/>
        </p:nvSpPr>
        <p:spPr>
          <a:xfrm>
            <a:off x="6688836" y="324612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circuit engine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460236" y="3849624"/>
            <a:ext cx="118872" cy="118872"/>
          </a:xfrm>
          <a:prstGeom prst="ellipse">
            <a:avLst/>
          </a:prstGeom>
          <a:solidFill>
            <a:srgbClr val="FF5C4D"/>
          </a:solidFill>
          <a:ln/>
        </p:spPr>
      </p:sp>
      <p:sp>
        <p:nvSpPr>
          <p:cNvPr id="52" name="Text 50"/>
          <p:cNvSpPr/>
          <p:nvPr/>
        </p:nvSpPr>
        <p:spPr>
          <a:xfrm>
            <a:off x="6688836" y="379476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AI SDK + Groq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460236" y="4398264"/>
            <a:ext cx="118872" cy="118872"/>
          </a:xfrm>
          <a:prstGeom prst="ellipse">
            <a:avLst/>
          </a:prstGeom>
          <a:solidFill>
            <a:srgbClr val="FF5C4D"/>
          </a:solidFill>
          <a:ln/>
        </p:spPr>
      </p:sp>
      <p:sp>
        <p:nvSpPr>
          <p:cNvPr id="54" name="Text 52"/>
          <p:cNvSpPr/>
          <p:nvPr/>
        </p:nvSpPr>
        <p:spPr>
          <a:xfrm>
            <a:off x="6688836" y="434340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hand tracking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460236" y="4946904"/>
            <a:ext cx="118872" cy="118872"/>
          </a:xfrm>
          <a:prstGeom prst="ellipse">
            <a:avLst/>
          </a:prstGeom>
          <a:solidFill>
            <a:srgbClr val="FF5C4D"/>
          </a:solidFill>
          <a:ln/>
        </p:spPr>
      </p:sp>
      <p:sp>
        <p:nvSpPr>
          <p:cNvPr id="56" name="Text 54"/>
          <p:cNvSpPr/>
          <p:nvPr/>
        </p:nvSpPr>
        <p:spPr>
          <a:xfrm>
            <a:off x="6688836" y="489204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Speech voice control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8935974" y="2377440"/>
            <a:ext cx="2430018" cy="3200400"/>
          </a:xfrm>
          <a:prstGeom prst="roundRect">
            <a:avLst>
              <a:gd name="adj" fmla="val 2258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164574" y="2377440"/>
            <a:ext cx="1972818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59" name="Text 57"/>
          <p:cNvSpPr/>
          <p:nvPr/>
        </p:nvSpPr>
        <p:spPr>
          <a:xfrm>
            <a:off x="9164574" y="2633472"/>
            <a:ext cx="19728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9164574" y="3035808"/>
            <a:ext cx="457200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61" name="Shape 59"/>
          <p:cNvSpPr/>
          <p:nvPr/>
        </p:nvSpPr>
        <p:spPr>
          <a:xfrm>
            <a:off x="9164574" y="3300984"/>
            <a:ext cx="118872" cy="11887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62" name="Text 60"/>
          <p:cNvSpPr/>
          <p:nvPr/>
        </p:nvSpPr>
        <p:spPr>
          <a:xfrm>
            <a:off x="9393174" y="324612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hosting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9164574" y="3849624"/>
            <a:ext cx="118872" cy="11887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64" name="Text 62"/>
          <p:cNvSpPr/>
          <p:nvPr/>
        </p:nvSpPr>
        <p:spPr>
          <a:xfrm>
            <a:off x="9393174" y="379476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(auth ready)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164574" y="4398264"/>
            <a:ext cx="118872" cy="11887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66" name="Text 64"/>
          <p:cNvSpPr/>
          <p:nvPr/>
        </p:nvSpPr>
        <p:spPr>
          <a:xfrm>
            <a:off x="9393174" y="434340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persistence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164574" y="4946904"/>
            <a:ext cx="118872" cy="118872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68" name="Text 66"/>
          <p:cNvSpPr/>
          <p:nvPr/>
        </p:nvSpPr>
        <p:spPr>
          <a:xfrm>
            <a:off x="9393174" y="4892040"/>
            <a:ext cx="178993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Zero-install PWA-ready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22960" y="58064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Everything runs in the browser — no native app, no hardware drivers, no setup.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it’s for &amp; why it matters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22960" y="2286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FOR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2960" y="2816352"/>
            <a:ext cx="164592" cy="164592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23" name="Text 21"/>
          <p:cNvSpPr/>
          <p:nvPr/>
        </p:nvSpPr>
        <p:spPr>
          <a:xfrm>
            <a:off x="1143000" y="27432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students &amp; beginners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22960" y="3383280"/>
            <a:ext cx="164592" cy="164592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331012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Self-taught makers &amp; hobbyists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22960" y="3950208"/>
            <a:ext cx="164592" cy="164592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27" name="Text 25"/>
          <p:cNvSpPr/>
          <p:nvPr/>
        </p:nvSpPr>
        <p:spPr>
          <a:xfrm>
            <a:off x="1143000" y="387705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Classrooms without lab budgets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22960" y="4517136"/>
            <a:ext cx="164592" cy="164592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29" name="Text 27"/>
          <p:cNvSpPr/>
          <p:nvPr/>
        </p:nvSpPr>
        <p:spPr>
          <a:xfrm>
            <a:off x="1143000" y="444398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intimidated by real hardware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92240" y="2331720"/>
            <a:ext cx="4873752" cy="960120"/>
          </a:xfrm>
          <a:prstGeom prst="roundRect">
            <a:avLst>
              <a:gd name="adj" fmla="val 5714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0840" y="2331720"/>
            <a:ext cx="4416552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0" y="24414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8869680" y="2331720"/>
            <a:ext cx="22219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cost to start learning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92240" y="3474720"/>
            <a:ext cx="4873752" cy="960120"/>
          </a:xfrm>
          <a:prstGeom prst="roundRect">
            <a:avLst>
              <a:gd name="adj" fmla="val 5714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20840" y="3474720"/>
            <a:ext cx="4416552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6" name="Text 34"/>
          <p:cNvSpPr/>
          <p:nvPr/>
        </p:nvSpPr>
        <p:spPr>
          <a:xfrm>
            <a:off x="6766560" y="35844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37" name="Text 35"/>
          <p:cNvSpPr/>
          <p:nvPr/>
        </p:nvSpPr>
        <p:spPr>
          <a:xfrm>
            <a:off x="8869680" y="3474720"/>
            <a:ext cx="22219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damaged by mistakes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492240" y="4617720"/>
            <a:ext cx="4873752" cy="960120"/>
          </a:xfrm>
          <a:prstGeom prst="roundRect">
            <a:avLst>
              <a:gd name="adj" fmla="val 5714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20840" y="4617720"/>
            <a:ext cx="4416552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0" name="Text 38"/>
          <p:cNvSpPr/>
          <p:nvPr/>
        </p:nvSpPr>
        <p:spPr>
          <a:xfrm>
            <a:off x="6766560" y="47274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8869680" y="4617720"/>
            <a:ext cx="222199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the moment you wire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learn, sustainable to grow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377440"/>
            <a:ext cx="3270504" cy="3200400"/>
          </a:xfrm>
          <a:prstGeom prst="roundRect">
            <a:avLst>
              <a:gd name="adj" fmla="val 1714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3774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2670048"/>
            <a:ext cx="2721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097280" y="3154680"/>
            <a:ext cx="2721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 &amp; makers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97280" y="3566160"/>
            <a:ext cx="2721864" cy="13716"/>
          </a:xfrm>
          <a:prstGeom prst="rect">
            <a:avLst/>
          </a:prstGeom>
          <a:solidFill>
            <a:srgbClr val="2A2D33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37947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71600" y="3794760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3D lab &amp; core components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97280" y="427024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371600" y="4270248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tutor (fair-use)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97280" y="474573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371600" y="4745736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Build Path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59224" y="2377440"/>
            <a:ext cx="3270504" cy="3200400"/>
          </a:xfrm>
          <a:prstGeom prst="roundRect">
            <a:avLst>
              <a:gd name="adj" fmla="val 1714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87824" y="23774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4" name="Shape 32"/>
          <p:cNvSpPr/>
          <p:nvPr/>
        </p:nvSpPr>
        <p:spPr>
          <a:xfrm>
            <a:off x="4687824" y="2377440"/>
            <a:ext cx="2813304" cy="54864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35" name="Text 33"/>
          <p:cNvSpPr/>
          <p:nvPr/>
        </p:nvSpPr>
        <p:spPr>
          <a:xfrm>
            <a:off x="4733544" y="2542032"/>
            <a:ext cx="2721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33544" y="2834640"/>
            <a:ext cx="2721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733544" y="3337560"/>
            <a:ext cx="2721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 users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33544" y="3749040"/>
            <a:ext cx="2721864" cy="13716"/>
          </a:xfrm>
          <a:prstGeom prst="rect">
            <a:avLst/>
          </a:prstGeom>
          <a:solidFill>
            <a:srgbClr val="2A2D33"/>
          </a:solidFill>
          <a:ln/>
        </p:spPr>
      </p:sp>
      <p:sp>
        <p:nvSpPr>
          <p:cNvPr id="39" name="Text 37"/>
          <p:cNvSpPr/>
          <p:nvPr/>
        </p:nvSpPr>
        <p:spPr>
          <a:xfrm>
            <a:off x="4733544" y="3977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007864" y="3977640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parts &amp; unlimited AI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733544" y="445312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007864" y="4453128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&amp; share unlimited circuits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733544" y="492861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007864" y="4928616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to real PCB layouts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095488" y="2377440"/>
            <a:ext cx="3270504" cy="3200400"/>
          </a:xfrm>
          <a:prstGeom prst="roundRect">
            <a:avLst>
              <a:gd name="adj" fmla="val 1714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24088" y="2377440"/>
            <a:ext cx="2813304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47" name="Text 45"/>
          <p:cNvSpPr/>
          <p:nvPr/>
        </p:nvSpPr>
        <p:spPr>
          <a:xfrm>
            <a:off x="8369808" y="2670048"/>
            <a:ext cx="27218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</a:t>
            </a:r>
            <a:endParaRPr lang="en-US" sz="2400" dirty="0"/>
          </a:p>
        </p:txBody>
      </p:sp>
      <p:sp>
        <p:nvSpPr>
          <p:cNvPr id="48" name="Text 46"/>
          <p:cNvSpPr/>
          <p:nvPr/>
        </p:nvSpPr>
        <p:spPr>
          <a:xfrm>
            <a:off x="8369808" y="3154680"/>
            <a:ext cx="27218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A9B2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Schools &amp; bootcamps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369808" y="3566160"/>
            <a:ext cx="2721864" cy="13716"/>
          </a:xfrm>
          <a:prstGeom prst="rect">
            <a:avLst/>
          </a:prstGeom>
          <a:solidFill>
            <a:srgbClr val="2A2D33"/>
          </a:solidFill>
          <a:ln/>
        </p:spPr>
      </p:sp>
      <p:sp>
        <p:nvSpPr>
          <p:cNvPr id="50" name="Text 48"/>
          <p:cNvSpPr/>
          <p:nvPr/>
        </p:nvSpPr>
        <p:spPr>
          <a:xfrm>
            <a:off x="8369808" y="37947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644128" y="3794760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dashboard &amp; cohorts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369808" y="427024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644128" y="4270248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Assignments &amp; progress tracking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8369808" y="474573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8644128" y="4745736"/>
            <a:ext cx="2493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Seat-based institutional license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822960" y="58064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Land free with students → expand into paid Pro &amp; Classroom seats. Low marginal cost — no hardware to ship.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SCALABILITY &amp; FEASIBILITY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today, built to grow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822960" y="2377440"/>
            <a:ext cx="5042916" cy="3291840"/>
          </a:xfrm>
          <a:prstGeom prst="roundRect">
            <a:avLst>
              <a:gd name="adj" fmla="val 1667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37744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2606040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SCALES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97280" y="3108960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5" name="Text 23"/>
          <p:cNvSpPr/>
          <p:nvPr/>
        </p:nvSpPr>
        <p:spPr>
          <a:xfrm>
            <a:off x="1389888" y="3063240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compute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89888" y="3355848"/>
            <a:ext cx="42199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3D lab and circuit engine run in the user’s browser — adding users costs us almost nothing.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97280" y="3977640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8" name="Text 26"/>
          <p:cNvSpPr/>
          <p:nvPr/>
        </p:nvSpPr>
        <p:spPr>
          <a:xfrm>
            <a:off x="1389888" y="3931920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Edge-hosted &amp; serverless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89888" y="4224528"/>
            <a:ext cx="42199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on Vercel scales automatically with demand, from 10 users to 100,000.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97280" y="4846320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31" name="Text 29"/>
          <p:cNvSpPr/>
          <p:nvPr/>
        </p:nvSpPr>
        <p:spPr>
          <a:xfrm>
            <a:off x="1389888" y="4800600"/>
            <a:ext cx="42199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Content, not code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389888" y="5093208"/>
            <a:ext cx="42199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components and projects are data-driven — the library grows without re-engineering.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23076" y="2377440"/>
            <a:ext cx="5042916" cy="3291840"/>
          </a:xfrm>
          <a:prstGeom prst="roundRect">
            <a:avLst>
              <a:gd name="adj" fmla="val 1667"/>
            </a:avLst>
          </a:prstGeom>
          <a:solidFill>
            <a:srgbClr val="121417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51676" y="2377440"/>
            <a:ext cx="4585716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5" name="Text 33"/>
          <p:cNvSpPr/>
          <p:nvPr/>
        </p:nvSpPr>
        <p:spPr>
          <a:xfrm>
            <a:off x="6597396" y="2606040"/>
            <a:ext cx="4494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FEASIBILITY — ALREADY REAL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597396" y="31089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90004" y="3108960"/>
            <a:ext cx="421995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platform — not a mockup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6597396" y="3611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890004" y="3611880"/>
            <a:ext cx="421995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3D lab, circuit engine &amp; AI tutor ship today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597396" y="41148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890004" y="4114800"/>
            <a:ext cx="421995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proven, production-grade web tech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6597396" y="4617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890004" y="4617720"/>
            <a:ext cx="421995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supply chain, inventory, or hardware logistics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6597396" y="5120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890004" y="5120640"/>
            <a:ext cx="4219956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global distribution via a URL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61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75223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81283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5044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8058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2567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63282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00894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38505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76117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13729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51340" y="0"/>
            <a:ext cx="0" cy="6858000"/>
          </a:xfrm>
          <a:prstGeom prst="line">
            <a:avLst/>
          </a:prstGeom>
          <a:noFill/>
          <a:ln w="6350">
            <a:solidFill>
              <a:srgbClr val="191B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FF2D2D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82296"/>
            <a:ext cx="12188952" cy="18288"/>
          </a:xfrm>
          <a:prstGeom prst="rect">
            <a:avLst/>
          </a:prstGeom>
          <a:solidFill>
            <a:srgbClr val="7A121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YANTRAA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51276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4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 ELECTRONICS IN 3D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94392" y="6400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WHAT’S NEXT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969264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the ask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22960" y="22402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8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2697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components: op-amps, logic gates, motors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22960" y="326440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8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43000" y="326440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Multiplayer labs &amp; classroom mode for teachers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22960" y="383133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8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43000" y="3831336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 circuits and a community project gallery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22960" y="4398264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08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43000" y="439826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designs to real PCB layouts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6675120" y="2194560"/>
            <a:ext cx="4690872" cy="2743200"/>
          </a:xfrm>
          <a:prstGeom prst="roundRect">
            <a:avLst>
              <a:gd name="adj" fmla="val 2000"/>
            </a:avLst>
          </a:prstGeom>
          <a:solidFill>
            <a:srgbClr val="191B1F"/>
          </a:solidFill>
          <a:ln w="12700">
            <a:solidFill>
              <a:srgbClr val="2A2D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03720" y="2194560"/>
            <a:ext cx="4233672" cy="27432"/>
          </a:xfrm>
          <a:prstGeom prst="rect">
            <a:avLst/>
          </a:prstGeom>
          <a:solidFill>
            <a:srgbClr val="8A6A4E"/>
          </a:solidFill>
          <a:ln/>
        </p:spPr>
      </p:sp>
      <p:sp>
        <p:nvSpPr>
          <p:cNvPr id="32" name="Text 30"/>
          <p:cNvSpPr/>
          <p:nvPr/>
        </p:nvSpPr>
        <p:spPr>
          <a:xfrm>
            <a:off x="6995160" y="2423160"/>
            <a:ext cx="4050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ASK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95160" y="2834640"/>
            <a:ext cx="40507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9B2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a working platform that makes electronics visible, safe, and fun to learn. We’re looking for feedback, early users, and mentors to take YANTRAA from hackathon to classroom.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995160" y="4297680"/>
            <a:ext cx="4050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5C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it live in the browser — no install required.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960" y="5394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YANTRAA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YANTRAA — Hackathon Pitch</dc:title>
  <dc:subject>PptxGenJS Presentation</dc:subject>
  <dc:creator>YANTRAA</dc:creator>
  <cp:lastModifiedBy>YANTRAA</cp:lastModifiedBy>
  <cp:revision>1</cp:revision>
  <dcterms:created xsi:type="dcterms:W3CDTF">2026-08-16T12:37:24Z</dcterms:created>
  <dcterms:modified xsi:type="dcterms:W3CDTF">2026-08-16T12:37:24Z</dcterms:modified>
</cp:coreProperties>
</file>