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78992" y="2404872"/>
            <a:ext cx="402336" cy="402336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584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28016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28016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5448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55448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337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LEARNING PLATFORM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3611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2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YANTRAA</a:t>
            </a:r>
            <a:endParaRPr lang="en-US" sz="9600" dirty="0"/>
          </a:p>
        </p:txBody>
      </p:sp>
      <p:sp>
        <p:nvSpPr>
          <p:cNvPr id="27" name="Text 25"/>
          <p:cNvSpPr/>
          <p:nvPr/>
        </p:nvSpPr>
        <p:spPr>
          <a:xfrm>
            <a:off x="822960" y="498348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electronics by building real circuits in an interactive 3D lab.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HACKATHON PITCH</a:t>
            </a:r>
            <a:pPr indent="0" marL="0">
              <a:buNone/>
            </a:pPr>
            <a:r>
              <a:rPr lang="en-US" sz="12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  </a:t>
            </a:r>
            <a:pPr indent="0" marL="0">
              <a:buNone/>
            </a:pPr>
            <a:r>
              <a:rPr lang="en-US" sz="12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YANTRAA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is taught on paper.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285292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&amp; intimidating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97280" y="324612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theory lives in 2D diagrams and equations. Beginners can’t see what a circuit actually does.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23076" y="228600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8" name="Text 26"/>
          <p:cNvSpPr/>
          <p:nvPr/>
        </p:nvSpPr>
        <p:spPr>
          <a:xfrm>
            <a:off x="6597396" y="25146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97396" y="285292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has a high floor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597396" y="324612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breadboards need parts, money, and space — and a wrong wire can fry a component or a student’s confidence.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2960" y="438912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1560" y="438912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" y="4617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97280" y="495604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 place to fail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97280" y="534924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fear mistakes because they’re slow, costly, and invisible until something breaks.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23076" y="438912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1676" y="438912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8" name="Text 36"/>
          <p:cNvSpPr/>
          <p:nvPr/>
        </p:nvSpPr>
        <p:spPr>
          <a:xfrm>
            <a:off x="6597396" y="4617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597396" y="495604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is delayed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97396" y="534924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a circuit is wrong hours later — not the instant you connect 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virtual electronics lab that feels real.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05740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YANTRAA is a browser-based platform where students drag real components onto a spatial breadboard, wire them in 3D, and press Run — watching current flow, LEDs glow, and buzzers pulse in real time. No parts to buy, nothing to break, instant feedback.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22960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IT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97280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polarity, and faults are visible — glow means current is flowing.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459224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87824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9" name="Text 27"/>
          <p:cNvSpPr/>
          <p:nvPr/>
        </p:nvSpPr>
        <p:spPr>
          <a:xfrm>
            <a:off x="4733544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IT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733544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4733544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real wires between pins on a 3D breadboard, just like the bench.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095488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4088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4" name="Text 32"/>
          <p:cNvSpPr/>
          <p:nvPr/>
        </p:nvSpPr>
        <p:spPr>
          <a:xfrm>
            <a:off x="8369808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IT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369808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6" name="Text 34"/>
          <p:cNvSpPr/>
          <p:nvPr/>
        </p:nvSpPr>
        <p:spPr>
          <a:xfrm>
            <a:off x="8369808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circuit engine + AI tutor explain why it works, the moment it does.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 Spatial Lab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1783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5C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of YANTRAA.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2423160"/>
            <a:ext cx="6126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–"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&amp; drop components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onto a spatial breadboard.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them in three dimensions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with real, snapping jumper wires.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Run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a live circuit engine simulates the result — LEDs light, buzzers sound, traces glow where current flows.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fault detection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flags shorts, reversed polarity, and missing resistors as you build.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06640" y="2286000"/>
            <a:ext cx="3959352" cy="3383280"/>
          </a:xfrm>
          <a:prstGeom prst="roundRect">
            <a:avLst>
              <a:gd name="adj" fmla="val 1622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35240" y="2286000"/>
            <a:ext cx="35021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2468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 ●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46720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C084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58200" y="4224528"/>
            <a:ext cx="516636" cy="45720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9" name="Shape 27"/>
          <p:cNvSpPr/>
          <p:nvPr/>
        </p:nvSpPr>
        <p:spPr>
          <a:xfrm>
            <a:off x="9386316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C084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86316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97796" y="4224528"/>
            <a:ext cx="516636" cy="45720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25912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25912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35240" y="502920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flowing → LED lit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— your AI hardware tutor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AI TUTOR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2926080"/>
            <a:ext cx="44942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is an always-on tutor that explains any concept — from Ohm’s law to 555 timing chips — grounded in what you’re actually building. Patient, precise, and context-aware.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97280" y="4114800"/>
            <a:ext cx="4219956" cy="502920"/>
          </a:xfrm>
          <a:prstGeom prst="roundRect">
            <a:avLst>
              <a:gd name="adj" fmla="val 14545"/>
            </a:avLst>
          </a:prstGeom>
          <a:solidFill>
            <a:srgbClr val="FF2D2D"/>
          </a:solidFill>
          <a:ln/>
        </p:spPr>
      </p:sp>
      <p:sp>
        <p:nvSpPr>
          <p:cNvPr id="26" name="Text 24"/>
          <p:cNvSpPr/>
          <p:nvPr/>
        </p:nvSpPr>
        <p:spPr>
          <a:xfrm>
            <a:off x="1234440" y="4114800"/>
            <a:ext cx="4037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won’t my LED light up?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371600" y="4709160"/>
            <a:ext cx="4219956" cy="640080"/>
          </a:xfrm>
          <a:prstGeom prst="roundRect">
            <a:avLst>
              <a:gd name="adj" fmla="val 1142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4709160"/>
            <a:ext cx="40370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polarity — the long leg is +. It looks reversed.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23076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6597396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NEXT-LEVEL INTERACTION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97396" y="301752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3" name="Text 31"/>
          <p:cNvSpPr/>
          <p:nvPr/>
        </p:nvSpPr>
        <p:spPr>
          <a:xfrm>
            <a:off x="6890004" y="297180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Hand-tracking control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90004" y="3264408"/>
            <a:ext cx="42199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Pinch, grab, and zoom the 3D lab with your webcam — no mouse required.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97396" y="3858768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6" name="Text 34"/>
          <p:cNvSpPr/>
          <p:nvPr/>
        </p:nvSpPr>
        <p:spPr>
          <a:xfrm>
            <a:off x="6890004" y="3813048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Living-schematic UI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90004" y="4105656"/>
            <a:ext cx="42199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app is a powered PCB: glow always means current is flowing.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97396" y="4700016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9" name="Text 37"/>
          <p:cNvSpPr/>
          <p:nvPr/>
        </p:nvSpPr>
        <p:spPr>
          <a:xfrm>
            <a:off x="6890004" y="4654296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the browser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890004" y="4946904"/>
            <a:ext cx="42199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3D + real-time simulation, zero installs, works on a laptop.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03 + 04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by exploring, master by building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COMPONENT LIBRARY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2926080"/>
            <a:ext cx="44942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every part in interactive 3D — pinouts, polarity, difficulty, and real-world uses — so a datasheet finally makes intuitive sense.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972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Resistor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974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974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Transistor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972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NE555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974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974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Arduino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976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976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23076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9" name="Text 37"/>
          <p:cNvSpPr/>
          <p:nvPr/>
        </p:nvSpPr>
        <p:spPr>
          <a:xfrm>
            <a:off x="6597396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BUILD PATH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97396" y="2926080"/>
            <a:ext cx="44942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guided roadmap of hands-on projects — from your first glowing LED to sensor-driven logic — wiring each real circuit step by step until it comes alive.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643116" y="4069080"/>
            <a:ext cx="365760" cy="365760"/>
          </a:xfrm>
          <a:prstGeom prst="ellipse">
            <a:avLst/>
          </a:prstGeom>
          <a:solidFill>
            <a:srgbClr val="FF2D2D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43116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23076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Light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44284" y="4224528"/>
            <a:ext cx="1004316" cy="3657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45" name="Shape 43"/>
          <p:cNvSpPr/>
          <p:nvPr/>
        </p:nvSpPr>
        <p:spPr>
          <a:xfrm>
            <a:off x="8049768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49768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729728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50936" y="4224528"/>
            <a:ext cx="1004316" cy="36576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9" name="Shape 47"/>
          <p:cNvSpPr/>
          <p:nvPr/>
        </p:nvSpPr>
        <p:spPr>
          <a:xfrm>
            <a:off x="9456420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5642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36380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657588" y="4224528"/>
            <a:ext cx="1004316" cy="36576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53" name="Shape 51"/>
          <p:cNvSpPr/>
          <p:nvPr/>
        </p:nvSpPr>
        <p:spPr>
          <a:xfrm>
            <a:off x="10863072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863072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543032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597396" y="5166360"/>
            <a:ext cx="44942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 is saved — unlock harder builds as you go.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empty board to living circuit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97280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THE PARTS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the 3D library — spin each component, learn its pins and what it does.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41064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4581144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9744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55464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55464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IT IN 3D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55464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parts on the spatial breadboard and connect them with real, snapping wires.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99248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8339328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67928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613648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38" name="Text 36"/>
          <p:cNvSpPr/>
          <p:nvPr/>
        </p:nvSpPr>
        <p:spPr>
          <a:xfrm>
            <a:off x="8613648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613648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&amp; LEARN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613648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Run: YANTRAA analyzes the circuit, flags issues, and brings it to life.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browser, engineered to scale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Three Fiber + WebGL render the spatial lab. A single shared WebGL context keeps it fast and stable.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59224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87824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7" name="Text 25"/>
          <p:cNvSpPr/>
          <p:nvPr/>
        </p:nvSpPr>
        <p:spPr>
          <a:xfrm>
            <a:off x="4687824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 ENGINE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87824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 real-time solver detects closed loops, current flow, shorts, and polarity faults on every edit.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95488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4088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8324088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TUTOR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4088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LLM responses via the AI SDK, grounded in the live circuit state for context-aware help.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1560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 TRACKING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51560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 gesture recognition drives pinch / grab / zoom — a natural, mouse-free interface.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459224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87824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9" name="Text 37"/>
          <p:cNvSpPr/>
          <p:nvPr/>
        </p:nvSpPr>
        <p:spPr>
          <a:xfrm>
            <a:off x="4687824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+ FLUENT UI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87824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front end with a cohesive PCB design system and persisted project progress.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95488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24088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3" name="Text 41"/>
          <p:cNvSpPr/>
          <p:nvPr/>
        </p:nvSpPr>
        <p:spPr>
          <a:xfrm>
            <a:off x="8324088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INSTALL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324088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client-side in the browser — no hardware, no setup, works on any laptop.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that power YANTRAA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51560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5" name="Shape 23"/>
          <p:cNvSpPr/>
          <p:nvPr/>
        </p:nvSpPr>
        <p:spPr>
          <a:xfrm>
            <a:off x="1051560" y="330098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160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51560" y="384962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TypeScript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51560" y="439826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30" name="Text 28"/>
          <p:cNvSpPr/>
          <p:nvPr/>
        </p:nvSpPr>
        <p:spPr>
          <a:xfrm>
            <a:off x="1280160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Fluent UI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1560" y="494690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32" name="Text 30"/>
          <p:cNvSpPr/>
          <p:nvPr/>
        </p:nvSpPr>
        <p:spPr>
          <a:xfrm>
            <a:off x="1280160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Tailwind-style tokens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7298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55898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3755898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&amp; GRAPHICS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755898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7" name="Shape 35"/>
          <p:cNvSpPr/>
          <p:nvPr/>
        </p:nvSpPr>
        <p:spPr>
          <a:xfrm>
            <a:off x="3755898" y="330098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38" name="Text 36"/>
          <p:cNvSpPr/>
          <p:nvPr/>
        </p:nvSpPr>
        <p:spPr>
          <a:xfrm>
            <a:off x="3984498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Three Fiber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755898" y="384962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0" name="Text 38"/>
          <p:cNvSpPr/>
          <p:nvPr/>
        </p:nvSpPr>
        <p:spPr>
          <a:xfrm>
            <a:off x="3984498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/ WebGL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55898" y="439826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2" name="Text 40"/>
          <p:cNvSpPr/>
          <p:nvPr/>
        </p:nvSpPr>
        <p:spPr>
          <a:xfrm>
            <a:off x="3984498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@react-three/drei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755898" y="494690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4" name="Text 42"/>
          <p:cNvSpPr/>
          <p:nvPr/>
        </p:nvSpPr>
        <p:spPr>
          <a:xfrm>
            <a:off x="3984498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shared GL context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31636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0236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7" name="Text 45"/>
          <p:cNvSpPr/>
          <p:nvPr/>
        </p:nvSpPr>
        <p:spPr>
          <a:xfrm>
            <a:off x="6460236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C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SIMULATION &amp; AI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460236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9" name="Shape 47"/>
          <p:cNvSpPr/>
          <p:nvPr/>
        </p:nvSpPr>
        <p:spPr>
          <a:xfrm>
            <a:off x="6460236" y="330098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0" name="Text 48"/>
          <p:cNvSpPr/>
          <p:nvPr/>
        </p:nvSpPr>
        <p:spPr>
          <a:xfrm>
            <a:off x="6688836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circuit engine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460236" y="384962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2" name="Text 50"/>
          <p:cNvSpPr/>
          <p:nvPr/>
        </p:nvSpPr>
        <p:spPr>
          <a:xfrm>
            <a:off x="6688836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AI SDK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460236" y="439826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4" name="Text 52"/>
          <p:cNvSpPr/>
          <p:nvPr/>
        </p:nvSpPr>
        <p:spPr>
          <a:xfrm>
            <a:off x="6688836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LLM (streaming)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460236" y="494690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6" name="Text 54"/>
          <p:cNvSpPr/>
          <p:nvPr/>
        </p:nvSpPr>
        <p:spPr>
          <a:xfrm>
            <a:off x="6688836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hand tracking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935974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164574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59" name="Text 57"/>
          <p:cNvSpPr/>
          <p:nvPr/>
        </p:nvSpPr>
        <p:spPr>
          <a:xfrm>
            <a:off x="9164574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164574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61" name="Shape 59"/>
          <p:cNvSpPr/>
          <p:nvPr/>
        </p:nvSpPr>
        <p:spPr>
          <a:xfrm>
            <a:off x="9164574" y="330098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2" name="Text 60"/>
          <p:cNvSpPr/>
          <p:nvPr/>
        </p:nvSpPr>
        <p:spPr>
          <a:xfrm>
            <a:off x="9393174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hosting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164574" y="384962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4" name="Text 62"/>
          <p:cNvSpPr/>
          <p:nvPr/>
        </p:nvSpPr>
        <p:spPr>
          <a:xfrm>
            <a:off x="9393174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(auth ready)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164574" y="439826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6" name="Text 64"/>
          <p:cNvSpPr/>
          <p:nvPr/>
        </p:nvSpPr>
        <p:spPr>
          <a:xfrm>
            <a:off x="9393174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persistence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164574" y="494690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8" name="Text 66"/>
          <p:cNvSpPr/>
          <p:nvPr/>
        </p:nvSpPr>
        <p:spPr>
          <a:xfrm>
            <a:off x="9393174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Zero-install PWA-ready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22960" y="58064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Everything runs in the browser — no native app, no hardware drivers, no setup.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it’s for &amp; why it matters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FOR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960" y="2816352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7432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&amp; 2nd year engineering students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" y="3383280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3101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makers &amp; hobbyists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22960" y="3950208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387705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Classrooms without lab budgets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22960" y="4517136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444398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intimidated by real hardware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92240" y="2331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2331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2441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8869680" y="2331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cost to start learning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92240" y="3474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3474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3584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8869680" y="3474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damaged by mistakes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92240" y="4617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20840" y="4617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0" name="Text 38"/>
          <p:cNvSpPr/>
          <p:nvPr/>
        </p:nvSpPr>
        <p:spPr>
          <a:xfrm>
            <a:off x="6766560" y="4727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8869680" y="4617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the moment you wire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learn, sustainable to grow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670048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97280" y="315468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&amp; makers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7280" y="356616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3794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71600" y="379476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3D lab &amp; core components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97280" y="42702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71600" y="427024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tutor (fair-use)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97280" y="47457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474573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Build Path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59224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87824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4" name="Shape 32"/>
          <p:cNvSpPr/>
          <p:nvPr/>
        </p:nvSpPr>
        <p:spPr>
          <a:xfrm>
            <a:off x="4687824" y="2377440"/>
            <a:ext cx="2813304" cy="54864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35" name="Text 33"/>
          <p:cNvSpPr/>
          <p:nvPr/>
        </p:nvSpPr>
        <p:spPr>
          <a:xfrm>
            <a:off x="4733544" y="2542032"/>
            <a:ext cx="2721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33544" y="2834640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33544" y="333756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 users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33544" y="374904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39" name="Text 37"/>
          <p:cNvSpPr/>
          <p:nvPr/>
        </p:nvSpPr>
        <p:spPr>
          <a:xfrm>
            <a:off x="4733544" y="3977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07864" y="397764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parts &amp; unlimited AI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733544" y="445312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007864" y="445312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&amp; share unlimited circuits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733544" y="492861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07864" y="492861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to real PCB layouts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095488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24088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7" name="Text 45"/>
          <p:cNvSpPr/>
          <p:nvPr/>
        </p:nvSpPr>
        <p:spPr>
          <a:xfrm>
            <a:off x="8369808" y="2670048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8369808" y="315468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Schools &amp; bootcamps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369808" y="356616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50" name="Text 48"/>
          <p:cNvSpPr/>
          <p:nvPr/>
        </p:nvSpPr>
        <p:spPr>
          <a:xfrm>
            <a:off x="8369808" y="3794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44128" y="379476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dashboard &amp; cohorts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369808" y="42702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644128" y="427024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Assignments &amp; progress tracking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8369808" y="47457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644128" y="474573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Seat-based institutional license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822960" y="58064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Land free with students → expand into paid Pro &amp; Classroom seats. Low marginal cost — no hardware to ship.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SCALABILITY &amp; FEASIBILITY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today, built to grow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60604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SCALES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97280" y="310896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5" name="Text 23"/>
          <p:cNvSpPr/>
          <p:nvPr/>
        </p:nvSpPr>
        <p:spPr>
          <a:xfrm>
            <a:off x="1389888" y="306324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compute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335584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 lab and circuit engine run in the user’s browser — adding users costs us almost nothing.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97280" y="397764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8" name="Text 26"/>
          <p:cNvSpPr/>
          <p:nvPr/>
        </p:nvSpPr>
        <p:spPr>
          <a:xfrm>
            <a:off x="1389888" y="393192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Edge-hosted &amp; serverless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89888" y="422452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on Vercel scales automatically with demand, from 10 users to 100,000.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97280" y="484632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1" name="Text 29"/>
          <p:cNvSpPr/>
          <p:nvPr/>
        </p:nvSpPr>
        <p:spPr>
          <a:xfrm>
            <a:off x="1389888" y="480060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Content, not code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89888" y="509320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components and projects are data-driven — the library grows without re-engineering.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23076" y="237744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51676" y="237744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6597396" y="260604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FEASIBILITY — ALREADY REAL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97396" y="3108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90004" y="310896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platform — not a mockup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597396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890004" y="361188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3D lab, circuit engine &amp; AI tutor ship today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597396" y="4114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890004" y="411480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proven, production-grade web tech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597396" y="4617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890004" y="461772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supply chain, inventory, or hardware logistics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597396" y="5120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90004" y="512064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global distribution via a URL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the ask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240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components: op-amps, logic gates, motors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22960" y="32644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32644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Multiplayer labs &amp; classroom mode for teachers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" y="38313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83133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 circuits and a community project gallery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2960" y="439826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43000" y="439826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designs to real PCB layouts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675120" y="2194560"/>
            <a:ext cx="4690872" cy="2743200"/>
          </a:xfrm>
          <a:prstGeom prst="roundRect">
            <a:avLst>
              <a:gd name="adj" fmla="val 2000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03720" y="2194560"/>
            <a:ext cx="423367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2423160"/>
            <a:ext cx="4050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95160" y="2834640"/>
            <a:ext cx="40507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a working platform that makes electronics visible, safe, and fun to learn. We’re looking for feedback, early users, and mentors to take YANTRAA from hackathon to classroom.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95160" y="4297680"/>
            <a:ext cx="4050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5C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live in the browser — no install required.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960" y="5394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YANTRAA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YANTRAA — Hackathon Pitch</dc:title>
  <dc:subject>PptxGenJS Presentation</dc:subject>
  <dc:creator>YANTRAA</dc:creator>
  <cp:lastModifiedBy>YANTRAA</cp:lastModifiedBy>
  <cp:revision>1</cp:revision>
  <dcterms:created xsi:type="dcterms:W3CDTF">2026-08-16T09:38:55Z</dcterms:created>
  <dcterms:modified xsi:type="dcterms:W3CDTF">2026-08-16T09:38:55Z</dcterms:modified>
</cp:coreProperties>
</file>